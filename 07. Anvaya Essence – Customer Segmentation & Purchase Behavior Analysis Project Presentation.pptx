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4" r:id="rId3"/>
    <p:sldId id="275" r:id="rId4"/>
    <p:sldId id="276" r:id="rId5"/>
    <p:sldId id="277" r:id="rId6"/>
    <p:sldId id="283" r:id="rId7"/>
    <p:sldId id="279" r:id="rId8"/>
    <p:sldId id="265" r:id="rId9"/>
    <p:sldId id="262" r:id="rId10"/>
    <p:sldId id="273" r:id="rId11"/>
    <p:sldId id="264" r:id="rId12"/>
    <p:sldId id="282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CF1F-F9A3-4EFC-825C-53D69F98438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1917-29C8-4BC7-957C-F11257860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61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7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CF-3689-70DD-CB28-AAE1111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E79-C9C7-BB25-EF2A-10D00584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02CA-5B96-CB8A-20AE-3906E8C3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4E639-AD7E-574C-C9E9-F5B43490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D176-E79D-6844-CB60-E7C78B6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7AB7-A55C-0B82-FAED-B7E33232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BAA-D510-ABB0-901D-0FAB309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2E59-3B88-F398-664D-3985AEA3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5EA-93FA-07C0-7322-40260FD5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D02C-4A2F-1824-59A1-7983E44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FFE9-1FD7-F63D-6439-1E27142E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7795-663E-05D7-5AD6-EDE501C6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FD33-591E-4820-A128-A94F0B33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3559-082C-1927-2A99-DB0902A7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344-A764-7087-642A-130D4BDB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2F8-3E12-F92D-405F-D6F5387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924-67EF-C4F4-CBC4-3BA853B5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2A22-3AA1-9209-180C-ACD5CAE4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6BA27-B2FD-C446-BEC7-8C46DD9B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49FC-F9E9-C312-F4C6-8D6D604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05D3-5917-4780-1633-FE4FD211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71D-B1D1-D670-316D-2468EC1F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81C9-A6B4-72BB-6420-63D0C9FB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F6D81-DC99-1889-9E64-F6033F06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8B6AD-9212-7FEB-CFE3-F3E14CFE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93A19-BA01-CA22-F22E-732EFB0CE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FDF2F-88B4-F652-05E4-CA5A375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AF91B-DD72-2AA0-29EB-85B6300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C143-07DD-21D1-88BC-58DBC3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502C-7C07-3A37-3440-CFE6877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4A65-9ABA-A4CB-2DD7-5CB25EC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0-613F-64A1-9E19-FCAF8E8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4B99-D02C-E34A-900E-401B4D53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03A9-34DF-1A1A-0FAE-6315B950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D59CC-1CEE-6108-18C9-364D0D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A34D-CFA4-C5D3-2E13-D8862979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679-E51D-0CCA-C05C-4463EE1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7ADE-E05C-21F4-DCE0-A14C75F5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D3006-CFC8-B856-9620-E3B6D8BE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152A-8351-B7BE-2FF4-ECFD17E1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D4CE-EDF4-0C77-DFBD-B16DB10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C1D1-D55C-A862-30A7-9C883B6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2F1-FAF3-F6B1-75BE-9D89225C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378F-FD1A-2C35-6AE0-CE2E78A7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C9C7-AA5D-5148-E367-145C76EB9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CB853-5ABE-2552-6205-942FD79D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9388-4C49-BE88-B847-EE920D61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3087-2BB3-A704-D22E-D242C72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142C-5EF6-2436-9786-E5975AD4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508B-5FD2-4D1F-FD73-B24651E2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5CB0-E5BC-47F5-6035-DBCFE434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356D-EF3B-C45C-A827-E6901EAF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E016-DF99-DC44-C6F3-B22839C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D9BCE-A0F0-4C4F-1D8F-DC958C87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0D40-AC43-C1C8-5C8B-94D803BC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8351-C7F1-1407-53B1-FD03FFC3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0FF2-A8E9-E359-37B4-ED45884B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2B75-6ECC-17A2-20CE-2675B3D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13E8-0655-D862-8DF0-C1E93F7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BFED0-7C94-95B8-C497-12C513EF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7FD-4D5B-4F88-10A6-46C987B1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7536-CC95-FFEB-5C32-E7F7DA66E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531-DCEC-0275-6210-63850CEA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680-A25A-D894-2D56-B1731FC7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43000"/>
            <a:ext cx="11996928" cy="147218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Anvaya Essence – Customer Segmentation &amp; Purchase Behavior Analysis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A40268-244F-926E-D357-3F80868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713976" cy="2642616"/>
          </a:xfrm>
        </p:spPr>
        <p:txBody>
          <a:bodyPr/>
          <a:lstStyle/>
          <a:p>
            <a:pPr algn="r"/>
            <a:r>
              <a:rPr lang="en-US" b="1" dirty="0"/>
              <a:t>- A Case Study by Anik Chakraborty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F4C45-04F8-3A5A-39BB-FC8030403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ED85-A8F9-0E56-6440-DB019472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4E4DD-F928-14F8-0BCD-63AE048AB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008"/>
            <a:ext cx="12192000" cy="5650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marL="0" indent="0">
              <a:buNone/>
            </a:pPr>
            <a:r>
              <a:rPr lang="en-US" sz="1500" dirty="0"/>
              <a:t>Analyze </a:t>
            </a:r>
            <a:r>
              <a:rPr lang="en-US" sz="1500" b="1" dirty="0"/>
              <a:t>customer demographics, spending behavior, and purchase channels</a:t>
            </a:r>
            <a:r>
              <a:rPr lang="en-US" sz="1500" dirty="0"/>
              <a:t> to uncover actionable insights. Identify </a:t>
            </a:r>
            <a:r>
              <a:rPr lang="en-US" sz="1500" b="1" dirty="0"/>
              <a:t>high-value customer segments</a:t>
            </a:r>
            <a:r>
              <a:rPr lang="en-US" sz="1500" dirty="0"/>
              <a:t> based on </a:t>
            </a:r>
            <a:r>
              <a:rPr lang="en-US" sz="1500" b="1" dirty="0"/>
              <a:t>income, generation, education, and family structure</a:t>
            </a:r>
            <a:r>
              <a:rPr lang="en-US" sz="1500" dirty="0"/>
              <a:t>. Evaluate </a:t>
            </a:r>
            <a:r>
              <a:rPr lang="en-US" sz="1500" b="1" dirty="0"/>
              <a:t>purchase patterns across store and web channels</a:t>
            </a:r>
            <a:r>
              <a:rPr lang="en-US" sz="1500" dirty="0"/>
              <a:t> to understand customer buying preferences.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Customers</a:t>
            </a:r>
            <a:endParaRPr lang="en-US" sz="1500" dirty="0"/>
          </a:p>
          <a:p>
            <a:pPr lvl="1"/>
            <a:r>
              <a:rPr lang="en-US" sz="1500" b="1" dirty="0"/>
              <a:t>Total Revenue (Total Spend)</a:t>
            </a:r>
            <a:endParaRPr lang="en-US" sz="1500" dirty="0"/>
          </a:p>
          <a:p>
            <a:pPr lvl="1"/>
            <a:r>
              <a:rPr lang="en-US" sz="1500" b="1" dirty="0"/>
              <a:t>Purchase Volume</a:t>
            </a:r>
            <a:endParaRPr lang="en-US" sz="1500" dirty="0"/>
          </a:p>
          <a:p>
            <a:pPr lvl="1"/>
            <a:r>
              <a:rPr lang="en-US" sz="1500" b="1" dirty="0"/>
              <a:t>Average Customer Income</a:t>
            </a:r>
            <a:endParaRPr lang="en-US" sz="1500" dirty="0"/>
          </a:p>
          <a:p>
            <a:pPr lvl="1"/>
            <a:r>
              <a:rPr lang="en-US" sz="1500" b="1" dirty="0"/>
              <a:t>Average Customer Age</a:t>
            </a:r>
            <a:endParaRPr lang="en-US" sz="1500" dirty="0"/>
          </a:p>
          <a:p>
            <a:pPr lvl="1"/>
            <a:r>
              <a:rPr lang="en-US" sz="1500" b="1" dirty="0"/>
              <a:t>Store Sales % vs Web Sales %</a:t>
            </a:r>
            <a:endParaRPr lang="en-US" sz="1500" dirty="0"/>
          </a:p>
          <a:p>
            <a:pPr lvl="1"/>
            <a:r>
              <a:rPr lang="en-US" sz="1500" b="1" dirty="0"/>
              <a:t>Average Recency (Customer Activity Level)</a:t>
            </a:r>
            <a:endParaRPr lang="en-US" sz="1500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b="1" dirty="0"/>
              <a:t>Interactive Power BI Dashboard Pages</a:t>
            </a:r>
            <a:endParaRPr lang="en-US" sz="1500" dirty="0"/>
          </a:p>
          <a:p>
            <a:pPr lvl="1"/>
            <a:r>
              <a:rPr lang="en-US" sz="1500" b="1" dirty="0"/>
              <a:t>Customer Segmentation Analysis</a:t>
            </a:r>
            <a:endParaRPr lang="en-US" sz="1500" dirty="0"/>
          </a:p>
          <a:p>
            <a:pPr lvl="1"/>
            <a:r>
              <a:rPr lang="en-US" sz="1500" b="1" dirty="0"/>
              <a:t>Purchase Behavior &amp; Channel Performance Insights</a:t>
            </a:r>
            <a:endParaRPr lang="en-US" sz="1500" dirty="0"/>
          </a:p>
          <a:p>
            <a:pPr lvl="1"/>
            <a:r>
              <a:rPr lang="en-US" sz="1500" b="1" dirty="0"/>
              <a:t>Business-ready data visualization for decision-making</a:t>
            </a:r>
            <a:endParaRPr lang="en-US" sz="1500" dirty="0"/>
          </a:p>
          <a:p>
            <a:pPr marL="457200" lvl="1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74306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57822-D195-9460-1077-0419847A3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0074-702F-0080-C0E7-A6A882E78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2416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12FE5-CE2F-8566-FA72-51328EEC9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0783"/>
            <a:ext cx="12192000" cy="5157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marL="0" indent="0">
              <a:buNone/>
            </a:pPr>
            <a:r>
              <a:rPr lang="en-US" sz="1500" dirty="0"/>
              <a:t>In today’s competitive retail environment, understanding customer behavior is essential for improving customer retention and maximizing revenue.</a:t>
            </a:r>
          </a:p>
          <a:p>
            <a:pPr marL="0" indent="0">
              <a:buNone/>
            </a:pPr>
            <a:r>
              <a:rPr lang="en-US" sz="1500" dirty="0"/>
              <a:t>Businesses require deeper insights into </a:t>
            </a:r>
            <a:r>
              <a:rPr lang="en-US" sz="1500" b="1" dirty="0"/>
              <a:t>who their customers are, how they purchase, and what factors influence their spending patterns</a:t>
            </a:r>
            <a:r>
              <a:rPr lang="en-US" sz="1500" dirty="0"/>
              <a:t>. By analyzing customer demographic and purchase data, organizations can better identify high-value segments and optimize marketing strategies.</a:t>
            </a:r>
          </a:p>
          <a:p>
            <a:pPr marL="0" indent="0">
              <a:buNone/>
            </a:pPr>
            <a:r>
              <a:rPr lang="en-US" sz="1500" dirty="0"/>
              <a:t>This project examines </a:t>
            </a:r>
            <a:r>
              <a:rPr lang="en-US" sz="1500" b="1" dirty="0"/>
              <a:t>customer demographics, spending behavior, and purchase channels</a:t>
            </a:r>
            <a:r>
              <a:rPr lang="en-US" sz="1500" dirty="0"/>
              <a:t> to uncover patterns that influence buying decisions and engagement levels.</a:t>
            </a:r>
          </a:p>
          <a:p>
            <a:pPr marL="0" indent="0">
              <a:buNone/>
            </a:pPr>
            <a:r>
              <a:rPr lang="en-US" sz="1500" dirty="0"/>
              <a:t>The insights generated from this analysis help businesses to:</a:t>
            </a:r>
          </a:p>
          <a:p>
            <a:pPr lvl="1"/>
            <a:r>
              <a:rPr lang="en-US" sz="1500" dirty="0"/>
              <a:t>Identify </a:t>
            </a:r>
            <a:r>
              <a:rPr lang="en-US" sz="1500" b="1" dirty="0"/>
              <a:t>high-value customer segments</a:t>
            </a:r>
            <a:endParaRPr lang="en-US" sz="1500" dirty="0"/>
          </a:p>
          <a:p>
            <a:pPr lvl="1"/>
            <a:r>
              <a:rPr lang="en-US" sz="1500" dirty="0"/>
              <a:t>Understand </a:t>
            </a:r>
            <a:r>
              <a:rPr lang="en-US" sz="1500" b="1" dirty="0"/>
              <a:t>purchase channel preferences (Store vs Web)</a:t>
            </a:r>
            <a:endParaRPr lang="en-US" sz="1500" dirty="0"/>
          </a:p>
          <a:p>
            <a:pPr lvl="1"/>
            <a:r>
              <a:rPr lang="en-US" sz="1500" dirty="0"/>
              <a:t>Evaluate </a:t>
            </a:r>
            <a:r>
              <a:rPr lang="en-US" sz="1500" b="1" dirty="0"/>
              <a:t>customer engagement and recency behavior</a:t>
            </a:r>
            <a:endParaRPr lang="en-US" sz="1500" dirty="0"/>
          </a:p>
          <a:p>
            <a:pPr lvl="1"/>
            <a:r>
              <a:rPr lang="en-US" sz="1500" dirty="0"/>
              <a:t>Support </a:t>
            </a:r>
            <a:r>
              <a:rPr lang="en-US" sz="1500" b="1" dirty="0"/>
              <a:t>targeted marketing and revenue optimization strategies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85830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D8884-E824-401C-A597-34F0978FC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DDDE2-8242-D00D-987A-A9899C6FD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🗂️ </a:t>
            </a:r>
            <a:r>
              <a:rPr lang="en-US" b="1" dirty="0"/>
              <a:t>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D4524-94B6-FDC3-1607-8D26B742E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1288"/>
            <a:ext cx="12192000" cy="56967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Data Source:</a:t>
            </a:r>
          </a:p>
          <a:p>
            <a:pPr lvl="1"/>
            <a:r>
              <a:rPr lang="en-US" sz="1400" b="1" dirty="0"/>
              <a:t>Source:</a:t>
            </a:r>
            <a:r>
              <a:rPr lang="en-US" sz="1400" dirty="0"/>
              <a:t> Customer Marketing Dataset</a:t>
            </a:r>
          </a:p>
          <a:p>
            <a:pPr lvl="1"/>
            <a:r>
              <a:rPr lang="en-US" sz="1400" b="1" dirty="0"/>
              <a:t>Data Type:</a:t>
            </a:r>
            <a:r>
              <a:rPr lang="en-US" sz="1400" dirty="0"/>
              <a:t> </a:t>
            </a:r>
            <a:r>
              <a:rPr lang="en-US" sz="1400" b="1" dirty="0"/>
              <a:t>Structured transactional and demographic data</a:t>
            </a:r>
            <a:endParaRPr lang="en-US" sz="1400" dirty="0"/>
          </a:p>
          <a:p>
            <a:pPr lvl="1"/>
            <a:r>
              <a:rPr lang="en-US" sz="1400" b="1" dirty="0"/>
              <a:t>Time Period:</a:t>
            </a:r>
            <a:r>
              <a:rPr lang="en-US" sz="1400" dirty="0"/>
              <a:t> </a:t>
            </a:r>
            <a:r>
              <a:rPr lang="en-US" sz="1400" b="1" dirty="0"/>
              <a:t>Multi-year customer purchase history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Data Structure &amp; Metrics:</a:t>
            </a:r>
          </a:p>
          <a:p>
            <a:pPr lvl="1"/>
            <a:r>
              <a:rPr lang="en-US" sz="1400" b="1" dirty="0"/>
              <a:t>Key Index Types: Customer ID (Primary Identifier),</a:t>
            </a:r>
            <a:r>
              <a:rPr lang="en-US" sz="1400" dirty="0"/>
              <a:t> </a:t>
            </a:r>
            <a:r>
              <a:rPr lang="en-US" sz="1400" b="1" dirty="0"/>
              <a:t>Demographic Attributes,</a:t>
            </a:r>
            <a:r>
              <a:rPr lang="en-US" sz="1400" dirty="0"/>
              <a:t> </a:t>
            </a:r>
            <a:r>
              <a:rPr lang="en-US" sz="1400" b="1" dirty="0"/>
              <a:t>Purchase Behavior Metrics</a:t>
            </a:r>
            <a:endParaRPr lang="en-US" sz="1400" dirty="0"/>
          </a:p>
          <a:p>
            <a:pPr lvl="1"/>
            <a:r>
              <a:rPr lang="en-US" sz="1400" b="1" dirty="0"/>
              <a:t>Total Rows: ~2,200 customer records</a:t>
            </a:r>
            <a:endParaRPr lang="en-US" sz="1400" dirty="0"/>
          </a:p>
          <a:p>
            <a:pPr lvl="1"/>
            <a:r>
              <a:rPr lang="en-US" sz="1400" b="1" dirty="0"/>
              <a:t>Categories:</a:t>
            </a:r>
          </a:p>
          <a:p>
            <a:pPr lvl="2"/>
            <a:r>
              <a:rPr lang="en-US" sz="1400" b="1" dirty="0"/>
              <a:t>Demographics: Age Group</a:t>
            </a:r>
            <a:r>
              <a:rPr lang="en-US" sz="1400" dirty="0"/>
              <a:t>, </a:t>
            </a:r>
            <a:r>
              <a:rPr lang="en-US" sz="1400" b="1" dirty="0"/>
              <a:t>Generation,</a:t>
            </a:r>
            <a:r>
              <a:rPr lang="en-US" sz="1400" dirty="0"/>
              <a:t> </a:t>
            </a:r>
            <a:r>
              <a:rPr lang="en-US" sz="1400" b="1" dirty="0"/>
              <a:t>Education</a:t>
            </a:r>
            <a:r>
              <a:rPr lang="en-US" sz="1400" dirty="0"/>
              <a:t>, </a:t>
            </a:r>
            <a:r>
              <a:rPr lang="en-US" sz="1400" b="1" dirty="0"/>
              <a:t>Marital Status</a:t>
            </a:r>
            <a:endParaRPr lang="en-US" sz="1400" dirty="0"/>
          </a:p>
          <a:p>
            <a:pPr lvl="2"/>
            <a:r>
              <a:rPr lang="en-US" sz="1400" b="1" dirty="0"/>
              <a:t>Financial: Income,</a:t>
            </a:r>
            <a:r>
              <a:rPr lang="en-US" sz="1400" dirty="0"/>
              <a:t> </a:t>
            </a:r>
            <a:r>
              <a:rPr lang="en-US" sz="1400" b="1" dirty="0"/>
              <a:t>Income Segment</a:t>
            </a:r>
            <a:endParaRPr lang="en-US" sz="1400" dirty="0"/>
          </a:p>
          <a:p>
            <a:pPr lvl="2"/>
            <a:r>
              <a:rPr lang="en-US" sz="1400" b="1" dirty="0"/>
              <a:t>Household: Total Children</a:t>
            </a:r>
            <a:endParaRPr lang="en-US" sz="1400" dirty="0"/>
          </a:p>
          <a:p>
            <a:pPr lvl="2"/>
            <a:r>
              <a:rPr lang="en-US" sz="1400" b="1" dirty="0"/>
              <a:t>Purchasing Behavior: Store Purchases</a:t>
            </a:r>
            <a:r>
              <a:rPr lang="en-US" sz="1400" dirty="0"/>
              <a:t>, </a:t>
            </a:r>
            <a:r>
              <a:rPr lang="en-US" sz="1400" b="1" dirty="0"/>
              <a:t>Web Purchases</a:t>
            </a:r>
            <a:r>
              <a:rPr lang="en-US" sz="1400" dirty="0"/>
              <a:t>, </a:t>
            </a:r>
            <a:r>
              <a:rPr lang="en-US" sz="1400" b="1" dirty="0"/>
              <a:t>Total Purchases</a:t>
            </a:r>
            <a:endParaRPr lang="en-US" sz="1400" dirty="0"/>
          </a:p>
          <a:p>
            <a:pPr lvl="2"/>
            <a:r>
              <a:rPr lang="en-US" sz="1400" b="1" dirty="0"/>
              <a:t>Spending Metrics: Product Category Spending</a:t>
            </a:r>
            <a:r>
              <a:rPr lang="en-US" sz="1400" dirty="0"/>
              <a:t>, </a:t>
            </a:r>
            <a:r>
              <a:rPr lang="en-US" sz="1400" b="1" dirty="0"/>
              <a:t>Total Spend (Total Revenue)</a:t>
            </a:r>
            <a:endParaRPr lang="en-US" sz="1400" dirty="0"/>
          </a:p>
          <a:p>
            <a:pPr lvl="1"/>
            <a:r>
              <a:rPr lang="en-US" sz="1400" b="1" dirty="0"/>
              <a:t>Calculated Metrics: </a:t>
            </a:r>
          </a:p>
          <a:p>
            <a:pPr lvl="2"/>
            <a:r>
              <a:rPr lang="en-US" sz="1400" b="1" dirty="0"/>
              <a:t>Total Revenue (Total Spend),</a:t>
            </a:r>
            <a:r>
              <a:rPr lang="en-US" sz="1400" dirty="0"/>
              <a:t> </a:t>
            </a:r>
          </a:p>
          <a:p>
            <a:pPr lvl="2"/>
            <a:r>
              <a:rPr lang="en-US" sz="1400" b="1" dirty="0"/>
              <a:t>Purchase Volume,</a:t>
            </a:r>
            <a:r>
              <a:rPr lang="en-US" sz="1400" dirty="0"/>
              <a:t> </a:t>
            </a:r>
          </a:p>
          <a:p>
            <a:pPr lvl="2"/>
            <a:r>
              <a:rPr lang="en-US" sz="1400" b="1" dirty="0"/>
              <a:t>Average Customer Spend,</a:t>
            </a:r>
            <a:r>
              <a:rPr lang="en-US" sz="1400" dirty="0"/>
              <a:t> </a:t>
            </a:r>
          </a:p>
          <a:p>
            <a:pPr lvl="2"/>
            <a:r>
              <a:rPr lang="en-US" sz="1400" b="1" dirty="0"/>
              <a:t>Store Sales % &amp;</a:t>
            </a:r>
            <a:r>
              <a:rPr lang="en-US" sz="1400" dirty="0"/>
              <a:t> </a:t>
            </a:r>
            <a:r>
              <a:rPr lang="en-US" sz="1400" b="1" dirty="0"/>
              <a:t>Web Sales %,</a:t>
            </a:r>
            <a:r>
              <a:rPr lang="en-US" sz="1400" dirty="0"/>
              <a:t> 	</a:t>
            </a:r>
          </a:p>
          <a:p>
            <a:pPr lvl="2"/>
            <a:r>
              <a:rPr lang="en-US" sz="1400" b="1" dirty="0"/>
              <a:t>Generation Segmentation,</a:t>
            </a:r>
            <a:r>
              <a:rPr lang="en-US" sz="1400" dirty="0"/>
              <a:t> </a:t>
            </a:r>
          </a:p>
          <a:p>
            <a:pPr lvl="2"/>
            <a:r>
              <a:rPr lang="en-US" sz="1400" b="1" dirty="0"/>
              <a:t>Income Segmentation,</a:t>
            </a:r>
            <a:r>
              <a:rPr lang="en-US" sz="1400" dirty="0"/>
              <a:t> </a:t>
            </a:r>
          </a:p>
          <a:p>
            <a:pPr lvl="2"/>
            <a:r>
              <a:rPr lang="en-US" sz="1400" b="1" dirty="0"/>
              <a:t>Age Group Segmentation,</a:t>
            </a:r>
            <a:r>
              <a:rPr lang="en-US" sz="1400" dirty="0"/>
              <a:t> </a:t>
            </a:r>
          </a:p>
          <a:p>
            <a:pPr lvl="2"/>
            <a:r>
              <a:rPr lang="en-US" sz="1400" b="1" dirty="0"/>
              <a:t>Customer Recency Status (Active / Slipping / At Risk)</a:t>
            </a:r>
            <a:endParaRPr lang="en-US" sz="1400" dirty="0"/>
          </a:p>
          <a:p>
            <a:pPr marL="0" indent="0">
              <a:buNone/>
            </a:pPr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64527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36D42-31F0-2748-E184-6CE2F771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D7C48-9D59-C0A1-FAD3-0A81AFDE9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083F0-C491-8465-A30F-9715DD648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" y="1536192"/>
            <a:ext cx="12192000" cy="5303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</a:t>
            </a:r>
            <a:endParaRPr lang="en-US" sz="1500" dirty="0"/>
          </a:p>
          <a:p>
            <a:pPr lvl="2"/>
            <a:r>
              <a:rPr lang="en-US" sz="1500" dirty="0"/>
              <a:t>Data cleaning &amp; preprocessing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Data Transformation &amp; Shaping</a:t>
            </a:r>
          </a:p>
          <a:p>
            <a:pPr lvl="2"/>
            <a:r>
              <a:rPr lang="en-US" sz="1500" dirty="0"/>
              <a:t>Column Standardization</a:t>
            </a:r>
          </a:p>
          <a:p>
            <a:pPr lvl="2"/>
            <a:r>
              <a:rPr lang="en-US" sz="1500" dirty="0"/>
              <a:t>Data Preparation for BI Integration</a:t>
            </a:r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Dashboard &amp; Visualization      </a:t>
            </a:r>
          </a:p>
          <a:p>
            <a:pPr lvl="2"/>
            <a:r>
              <a:rPr lang="en-US" sz="1500" dirty="0"/>
              <a:t>Data Modeling &amp; Relationship Building      </a:t>
            </a:r>
          </a:p>
          <a:p>
            <a:pPr lvl="2"/>
            <a:r>
              <a:rPr lang="en-US" sz="1500" dirty="0"/>
              <a:t>DAX – KPI Calculations Columns &amp; Measures     </a:t>
            </a:r>
          </a:p>
          <a:p>
            <a:pPr lvl="2"/>
            <a:r>
              <a:rPr lang="en-US" sz="1500" dirty="0"/>
              <a:t>Slicers &amp; Dynamic Filtering</a:t>
            </a:r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1439956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05D2B-0080-22AD-95D4-6948D523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ECED7-B300-92D8-130A-3AA3B499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0431"/>
          </a:xfrm>
        </p:spPr>
        <p:txBody>
          <a:bodyPr/>
          <a:lstStyle/>
          <a:p>
            <a:r>
              <a:rPr lang="en-US" dirty="0"/>
              <a:t>📈 </a:t>
            </a:r>
            <a:r>
              <a:rPr lang="en-US" b="1" dirty="0"/>
              <a:t>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73132-EBB2-95FA-9C9C-071F0CD6D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0432"/>
            <a:ext cx="12192000" cy="56875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Preparation, Process &amp; Analytical Approach:</a:t>
            </a:r>
            <a:endParaRPr lang="en-US" sz="1400" dirty="0"/>
          </a:p>
          <a:p>
            <a:pPr lvl="1"/>
            <a:r>
              <a:rPr lang="en-US" sz="1400" b="1" dirty="0"/>
              <a:t>Data Preparation &amp; Cleaning:</a:t>
            </a:r>
          </a:p>
          <a:p>
            <a:pPr lvl="2"/>
            <a:r>
              <a:rPr lang="en-US" sz="1400" dirty="0"/>
              <a:t>Removed </a:t>
            </a:r>
            <a:r>
              <a:rPr lang="en-US" sz="1400" b="1" dirty="0"/>
              <a:t>inconsistent or missing values</a:t>
            </a:r>
            <a:endParaRPr lang="en-US" sz="1400" dirty="0"/>
          </a:p>
          <a:p>
            <a:pPr lvl="2"/>
            <a:r>
              <a:rPr lang="en-US" sz="1400" dirty="0"/>
              <a:t>Standardized </a:t>
            </a:r>
            <a:r>
              <a:rPr lang="en-US" sz="1400" b="1" dirty="0"/>
              <a:t>categorical, numeric, and date fields</a:t>
            </a:r>
            <a:endParaRPr lang="en-US" sz="1400" dirty="0"/>
          </a:p>
          <a:p>
            <a:pPr lvl="2"/>
            <a:r>
              <a:rPr lang="en-US" sz="1400" dirty="0"/>
              <a:t>Created derived attributes: </a:t>
            </a:r>
            <a:r>
              <a:rPr lang="en-US" sz="1400" b="1" dirty="0"/>
              <a:t>Age, Age Groups, Generation</a:t>
            </a:r>
            <a:endParaRPr lang="en-US" sz="1400" dirty="0"/>
          </a:p>
          <a:p>
            <a:pPr lvl="1"/>
            <a:r>
              <a:rPr lang="en-US" sz="1400" b="1" dirty="0"/>
              <a:t>Data Modeling &amp; Integration:</a:t>
            </a:r>
          </a:p>
          <a:p>
            <a:pPr lvl="2"/>
            <a:r>
              <a:rPr lang="en-US" sz="1400" dirty="0"/>
              <a:t>Structured dataset using </a:t>
            </a:r>
            <a:r>
              <a:rPr lang="en-US" sz="1400" b="1" dirty="0"/>
              <a:t>Customer ID as primary index</a:t>
            </a:r>
            <a:endParaRPr lang="en-US" sz="1400" dirty="0"/>
          </a:p>
          <a:p>
            <a:pPr lvl="2"/>
            <a:r>
              <a:rPr lang="en-US" sz="1400" dirty="0"/>
              <a:t>Created </a:t>
            </a:r>
            <a:r>
              <a:rPr lang="en-US" sz="1400" b="1" dirty="0"/>
              <a:t>calculated columns and KPI measures using DAX</a:t>
            </a:r>
            <a:endParaRPr lang="en-US" sz="1400" dirty="0"/>
          </a:p>
          <a:p>
            <a:pPr lvl="2"/>
            <a:r>
              <a:rPr lang="en-US" sz="1400" dirty="0"/>
              <a:t>Optimized model for </a:t>
            </a:r>
            <a:r>
              <a:rPr lang="en-US" sz="1400" b="1" dirty="0"/>
              <a:t>efficient dashboard performance</a:t>
            </a:r>
            <a:endParaRPr lang="en-US" sz="1400" dirty="0"/>
          </a:p>
          <a:p>
            <a:pPr lvl="1"/>
            <a:r>
              <a:rPr lang="en-US" sz="1400" b="1" dirty="0"/>
              <a:t>Feature Engineering:</a:t>
            </a:r>
          </a:p>
          <a:p>
            <a:pPr lvl="2"/>
            <a:r>
              <a:rPr lang="en-US" sz="1400" dirty="0"/>
              <a:t>Developed segmentation variables:</a:t>
            </a:r>
          </a:p>
          <a:p>
            <a:pPr lvl="2"/>
            <a:r>
              <a:rPr lang="en-US" sz="1400" b="1" dirty="0"/>
              <a:t>Generation Segmentation</a:t>
            </a:r>
            <a:r>
              <a:rPr lang="en-US" sz="1400" dirty="0"/>
              <a:t> (Gen Z, Millennials, Gen X, Boomers)</a:t>
            </a:r>
          </a:p>
          <a:p>
            <a:pPr lvl="2"/>
            <a:r>
              <a:rPr lang="en-US" sz="1400" b="1" dirty="0"/>
              <a:t>Income Segmentation</a:t>
            </a:r>
            <a:r>
              <a:rPr lang="en-US" sz="1400" dirty="0"/>
              <a:t> (Low, Medium, High)</a:t>
            </a:r>
          </a:p>
          <a:p>
            <a:pPr lvl="2"/>
            <a:r>
              <a:rPr lang="en-US" sz="1400" b="1" dirty="0"/>
              <a:t>Age Groups &amp; Customer Recency Status</a:t>
            </a:r>
            <a:endParaRPr lang="en-US" sz="1400" dirty="0"/>
          </a:p>
          <a:p>
            <a:pPr lvl="2"/>
            <a:r>
              <a:rPr lang="en-US" sz="1400" b="1" dirty="0"/>
              <a:t>Channel Sales % and Total Purchase Volume</a:t>
            </a:r>
            <a:endParaRPr lang="en-US" sz="1400" dirty="0"/>
          </a:p>
          <a:p>
            <a:pPr lvl="1"/>
            <a:r>
              <a:rPr lang="en-US" sz="1400" b="1" dirty="0"/>
              <a:t>Visualization Design:</a:t>
            </a:r>
          </a:p>
          <a:p>
            <a:pPr lvl="2"/>
            <a:r>
              <a:rPr lang="en-US" sz="1400" dirty="0"/>
              <a:t>Built </a:t>
            </a:r>
            <a:r>
              <a:rPr lang="en-US" sz="1400" b="1" dirty="0"/>
              <a:t>two interactive Power BI dashboards</a:t>
            </a:r>
            <a:endParaRPr lang="en-US" sz="1400" dirty="0"/>
          </a:p>
          <a:p>
            <a:pPr lvl="2"/>
            <a:r>
              <a:rPr lang="en-US" sz="1400" dirty="0"/>
              <a:t>Used </a:t>
            </a:r>
            <a:r>
              <a:rPr lang="en-US" sz="1400" b="1" dirty="0"/>
              <a:t>KPI cards, bar charts, stacked bars, and combo charts</a:t>
            </a:r>
            <a:endParaRPr lang="en-US" sz="1400" dirty="0"/>
          </a:p>
          <a:p>
            <a:pPr lvl="2"/>
            <a:r>
              <a:rPr lang="en-US" sz="1400" dirty="0"/>
              <a:t>Applied </a:t>
            </a:r>
            <a:r>
              <a:rPr lang="en-US" sz="1400" b="1" dirty="0"/>
              <a:t>consistent visual theme and segmentation-based layout</a:t>
            </a:r>
            <a:endParaRPr lang="en-US" sz="1400" dirty="0"/>
          </a:p>
          <a:p>
            <a:pPr lvl="1"/>
            <a:r>
              <a:rPr lang="en-US" sz="1400" b="1" dirty="0"/>
              <a:t>Validation &amp; Formatting:</a:t>
            </a:r>
          </a:p>
          <a:p>
            <a:pPr lvl="2"/>
            <a:r>
              <a:rPr lang="en-US" sz="1400" dirty="0"/>
              <a:t>Verified </a:t>
            </a:r>
            <a:r>
              <a:rPr lang="en-US" sz="1400" b="1" dirty="0"/>
              <a:t>KPI calculations and aggregations</a:t>
            </a:r>
            <a:endParaRPr lang="en-US" sz="1400" dirty="0"/>
          </a:p>
          <a:p>
            <a:pPr lvl="2"/>
            <a:r>
              <a:rPr lang="en-US" sz="1400" dirty="0"/>
              <a:t>Ensured </a:t>
            </a:r>
            <a:r>
              <a:rPr lang="en-US" sz="1400" b="1" dirty="0"/>
              <a:t>consistent formatting and dashboard clarity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1351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9CA60-D7A5-1EFF-0B9C-61476E48C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48984-9A93-82DA-A1FA-02D0B246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80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D40AC-1D22-AF1C-920D-683E0CA1C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2768"/>
            <a:ext cx="12192000" cy="5285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To better understand customer behavior and revenue drivers, the analysis focuses on identifying patterns across demographic segments, spending habits, and purchase channels.</a:t>
            </a:r>
            <a:br>
              <a:rPr lang="en-US" sz="1500" dirty="0"/>
            </a:br>
            <a:r>
              <a:rPr lang="en-US" sz="1500" dirty="0"/>
              <a:t>The following key questions guide the exploration of the dataset and help uncover actionable business insights.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  <a:endParaRPr lang="en-US" sz="1500" dirty="0"/>
          </a:p>
          <a:p>
            <a:pPr lvl="1"/>
            <a:r>
              <a:rPr lang="en-US" sz="1500" dirty="0"/>
              <a:t>Which customer segments generate the highest revenue?</a:t>
            </a:r>
          </a:p>
          <a:p>
            <a:pPr lvl="1"/>
            <a:r>
              <a:rPr lang="en-US" sz="1500" dirty="0"/>
              <a:t>How does spending vary across different </a:t>
            </a:r>
            <a:r>
              <a:rPr lang="en-US" sz="1500" b="1" dirty="0"/>
              <a:t>age groups and generations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income segments</a:t>
            </a:r>
            <a:r>
              <a:rPr lang="en-US" sz="1500" dirty="0"/>
              <a:t> contribute the most to overall revenue?</a:t>
            </a:r>
          </a:p>
          <a:p>
            <a:pPr lvl="1"/>
            <a:r>
              <a:rPr lang="en-US" sz="1500" dirty="0"/>
              <a:t>How does </a:t>
            </a:r>
            <a:r>
              <a:rPr lang="en-US" sz="1500" b="1" dirty="0"/>
              <a:t>education level influence purchasing behavior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What are the preferred </a:t>
            </a:r>
            <a:r>
              <a:rPr lang="en-US" sz="1500" b="1" dirty="0"/>
              <a:t>purchase channels (Web vs Store)</a:t>
            </a:r>
            <a:r>
              <a:rPr lang="en-US" sz="1500" dirty="0"/>
              <a:t> among customers?</a:t>
            </a:r>
          </a:p>
          <a:p>
            <a:pPr lvl="1"/>
            <a:r>
              <a:rPr lang="en-US" sz="1500" dirty="0"/>
              <a:t>Which customers are </a:t>
            </a:r>
            <a:r>
              <a:rPr lang="en-US" sz="1500" b="1" dirty="0"/>
              <a:t>active, slipping, or at risk of churn</a:t>
            </a:r>
            <a:r>
              <a:rPr lang="en-US" sz="1500" dirty="0"/>
              <a:t> based on recency?</a:t>
            </a:r>
          </a:p>
          <a:p>
            <a:pPr lvl="1"/>
            <a:r>
              <a:rPr lang="en-US" sz="1500" dirty="0"/>
              <a:t>How do </a:t>
            </a:r>
            <a:r>
              <a:rPr lang="en-US" sz="1500" b="1" dirty="0"/>
              <a:t>purchase frequency and total revenue correlate</a:t>
            </a:r>
            <a:r>
              <a:rPr lang="en-US" sz="1500" dirty="0"/>
              <a:t> across customer segments?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245590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D5F8-D0E4-975A-6783-C12BA7F4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F2298-2736-F19C-21FB-BDE85EA3C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0"/>
            <a:ext cx="12192000" cy="54406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b="1" dirty="0"/>
              <a:t>Middle-aged customers (Age 49–58)</a:t>
            </a:r>
            <a:r>
              <a:rPr lang="en-US" sz="1500" dirty="0"/>
              <a:t> and the </a:t>
            </a:r>
            <a:r>
              <a:rPr lang="en-US" sz="1500" b="1" dirty="0"/>
              <a:t>Gen X generation</a:t>
            </a:r>
            <a:r>
              <a:rPr lang="en-US" sz="1500" dirty="0"/>
              <a:t> contribute the </a:t>
            </a:r>
            <a:r>
              <a:rPr lang="en-US" sz="1500" b="1" dirty="0"/>
              <a:t>highest share of total revenue and purchase volume</a:t>
            </a:r>
            <a:r>
              <a:rPr lang="en-US" sz="1500" dirty="0"/>
              <a:t>, making them the most valuable customer segment.</a:t>
            </a:r>
          </a:p>
          <a:p>
            <a:pPr lvl="1"/>
            <a:r>
              <a:rPr lang="en-US" sz="1500" b="1" dirty="0"/>
              <a:t>High-income customers</a:t>
            </a:r>
            <a:r>
              <a:rPr lang="en-US" sz="1500" dirty="0"/>
              <a:t> generate </a:t>
            </a:r>
            <a:r>
              <a:rPr lang="en-US" sz="1500" b="1" dirty="0"/>
              <a:t>significantly higher spending</a:t>
            </a:r>
            <a:r>
              <a:rPr lang="en-US" sz="1500" dirty="0"/>
              <a:t>, indicating a strong link between </a:t>
            </a:r>
            <a:r>
              <a:rPr lang="en-US" sz="1500" b="1" dirty="0"/>
              <a:t>income level and purchasing power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Customers with </a:t>
            </a:r>
            <a:r>
              <a:rPr lang="en-US" sz="1500" b="1" dirty="0"/>
              <a:t>no children at home tend to spend more on average</a:t>
            </a:r>
            <a:r>
              <a:rPr lang="en-US" sz="1500" dirty="0"/>
              <a:t>, suggesting higher disposable income.</a:t>
            </a:r>
          </a:p>
          <a:p>
            <a:pPr lvl="1"/>
            <a:r>
              <a:rPr lang="en-US" sz="1500" b="1" dirty="0"/>
              <a:t>Graduates and postgraduate customers</a:t>
            </a:r>
            <a:r>
              <a:rPr lang="en-US" sz="1500" dirty="0"/>
              <a:t> represent a </a:t>
            </a:r>
            <a:r>
              <a:rPr lang="en-US" sz="1500" b="1" dirty="0"/>
              <a:t>large portion of the customer base and spending activity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Store purchases dominate overall transactions</a:t>
            </a:r>
            <a:r>
              <a:rPr lang="en-US" sz="1500" dirty="0"/>
              <a:t>, showing a </a:t>
            </a:r>
            <a:r>
              <a:rPr lang="en-US" sz="1500" b="1" dirty="0"/>
              <a:t>strong preference for offline shopping</a:t>
            </a:r>
            <a:r>
              <a:rPr lang="en-US" sz="1500" dirty="0"/>
              <a:t>, while </a:t>
            </a:r>
            <a:r>
              <a:rPr lang="en-US" sz="1500" b="1" dirty="0"/>
              <a:t>web purchases represent a smaller but steadily growing channel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Customer recency analysis shows most customers fall into </a:t>
            </a:r>
            <a:r>
              <a:rPr lang="en-US" sz="1500" b="1" dirty="0"/>
              <a:t>Active or Slipping segments</a:t>
            </a:r>
            <a:r>
              <a:rPr lang="en-US" sz="1500" dirty="0"/>
              <a:t>, highlighting </a:t>
            </a:r>
            <a:r>
              <a:rPr lang="en-US" sz="1500" b="1" dirty="0"/>
              <a:t>opportunities for targeted retention strategies</a:t>
            </a:r>
            <a:r>
              <a:rPr lang="en-US" sz="1500" dirty="0"/>
              <a:t>.</a:t>
            </a:r>
            <a:br>
              <a:rPr lang="en-US" sz="1500" dirty="0"/>
            </a:b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b="1" dirty="0"/>
              <a:t>Total Customers:</a:t>
            </a:r>
            <a:r>
              <a:rPr lang="en-US" sz="1500" dirty="0"/>
              <a:t> ~2,200</a:t>
            </a:r>
          </a:p>
          <a:p>
            <a:pPr lvl="1"/>
            <a:r>
              <a:rPr lang="en-US" sz="1500" b="1" dirty="0"/>
              <a:t>Highest Spending Age Group:</a:t>
            </a:r>
            <a:r>
              <a:rPr lang="en-US" sz="1500" dirty="0"/>
              <a:t> 49–58</a:t>
            </a:r>
          </a:p>
          <a:p>
            <a:pPr lvl="1"/>
            <a:r>
              <a:rPr lang="en-US" sz="1500" b="1" dirty="0"/>
              <a:t>Dominant Generation:</a:t>
            </a:r>
            <a:r>
              <a:rPr lang="en-US" sz="1500" dirty="0"/>
              <a:t> Gen X / Older Millennials</a:t>
            </a:r>
          </a:p>
          <a:p>
            <a:pPr lvl="1"/>
            <a:r>
              <a:rPr lang="en-US" sz="1500" b="1" dirty="0"/>
              <a:t>Store Sales Share:</a:t>
            </a:r>
            <a:r>
              <a:rPr lang="en-US" sz="1500" dirty="0"/>
              <a:t> ~60% of total purchases</a:t>
            </a:r>
          </a:p>
          <a:p>
            <a:pPr lvl="1"/>
            <a:r>
              <a:rPr lang="en-US" sz="1500" b="1" dirty="0"/>
              <a:t>Web Sales Share:</a:t>
            </a:r>
            <a:r>
              <a:rPr lang="en-US" sz="1500" dirty="0"/>
              <a:t> ~40% of total purchases</a:t>
            </a:r>
          </a:p>
          <a:p>
            <a:pPr lvl="1"/>
            <a:r>
              <a:rPr lang="en-US" sz="1500" b="1" dirty="0"/>
              <a:t>Primary Revenue Segment:</a:t>
            </a:r>
            <a:r>
              <a:rPr lang="en-US" sz="1500" dirty="0"/>
              <a:t> Medium-to-High income customers</a:t>
            </a:r>
          </a:p>
          <a:p>
            <a:pPr lvl="1"/>
            <a:r>
              <a:rPr lang="en-US" sz="1500" b="1" dirty="0"/>
              <a:t>Average Customer Spend:</a:t>
            </a:r>
            <a:r>
              <a:rPr lang="en-US" sz="1500" dirty="0"/>
              <a:t> Indicates </a:t>
            </a:r>
            <a:r>
              <a:rPr lang="en-US" sz="1500" b="1" dirty="0"/>
              <a:t>moderate to high purchasing capacity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894071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81B5-C578-E115-D4EE-3B5B5CC6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3F1E8-B7D8-C1FF-1F55-3E5F6C36A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20824"/>
            <a:ext cx="12192000" cy="4837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Customer purchasing behavior is strongly influenced by </a:t>
            </a:r>
            <a:r>
              <a:rPr lang="en-US" sz="1500" b="1" dirty="0"/>
              <a:t>demographic factors such as age, income, education, and household structure</a:t>
            </a:r>
            <a:r>
              <a:rPr lang="en-US" sz="1500" dirty="0"/>
              <a:t>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Middle-aged and higher-income customers</a:t>
            </a:r>
            <a:r>
              <a:rPr lang="en-US" sz="1500" dirty="0"/>
              <a:t> contribute the most to overall revenue, making them key high-value segments.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Store purchases dominate over web purchases</a:t>
            </a:r>
            <a:r>
              <a:rPr lang="en-US" sz="1500" dirty="0"/>
              <a:t>, indicating strong offline engagement while highlighting potential growth opportunities for online channels.</a:t>
            </a:r>
          </a:p>
          <a:p>
            <a:pPr lvl="1"/>
            <a:endParaRPr lang="en-US" sz="1500" b="1" dirty="0"/>
          </a:p>
          <a:p>
            <a:pPr lvl="1"/>
            <a:r>
              <a:rPr lang="en-US" sz="1500" b="1" dirty="0"/>
              <a:t>Customer recency analysis</a:t>
            </a:r>
            <a:r>
              <a:rPr lang="en-US" sz="1500" dirty="0"/>
              <a:t> reveals opportunities to retain slipping customers and re-engage inactive segments.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These insights enable businesses to </a:t>
            </a:r>
            <a:r>
              <a:rPr lang="en-US" sz="1500" b="1" dirty="0"/>
              <a:t>design targeted marketing strategies, improve customer retention, and optimize revenue performance</a:t>
            </a:r>
            <a:r>
              <a:rPr lang="en-US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093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E8F-1C7D-473A-67DC-0702E54E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7CD5-1967-34C2-0596-52403C52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 fontScale="90000"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(1) – Customer Segmentation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0B8515-6516-A896-CCFA-EAF1C678F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5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8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3C93-9CE2-F428-1842-837A8776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(2) – Purchase Behavior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2543B5-2040-C67B-2A22-63DF482BC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5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6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D9A91-9A5A-6481-6956-8B348D21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36830-B779-C302-90CE-4234A21B2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19656"/>
            <a:ext cx="12192000" cy="5038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The insights generated from this dashboard support </a:t>
            </a:r>
            <a:r>
              <a:rPr lang="en-US" sz="1500" b="1" dirty="0"/>
              <a:t>data-driven marketing, sales, and customer strategy decisions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Marketing Strategy:</a:t>
            </a:r>
          </a:p>
          <a:p>
            <a:pPr lvl="2"/>
            <a:r>
              <a:rPr lang="en-US" sz="1500" dirty="0"/>
              <a:t>Identify </a:t>
            </a:r>
            <a:r>
              <a:rPr lang="en-US" sz="1500" b="1" dirty="0"/>
              <a:t>high-value customer segments</a:t>
            </a:r>
            <a:r>
              <a:rPr lang="en-US" sz="1500" dirty="0"/>
              <a:t> based on income, age group, and spending behavior to design </a:t>
            </a:r>
            <a:r>
              <a:rPr lang="en-US" sz="1500" b="1" dirty="0"/>
              <a:t>targeted and personalized marketing campaigns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Customer Retention:</a:t>
            </a:r>
          </a:p>
          <a:p>
            <a:pPr lvl="2"/>
            <a:r>
              <a:rPr lang="en-US" sz="1500" dirty="0"/>
              <a:t>Use </a:t>
            </a:r>
            <a:r>
              <a:rPr lang="en-US" sz="1500" b="1" dirty="0"/>
              <a:t>recency analysis</a:t>
            </a:r>
            <a:r>
              <a:rPr lang="en-US" sz="1500" dirty="0"/>
              <a:t> to detect </a:t>
            </a:r>
            <a:r>
              <a:rPr lang="en-US" sz="1500" b="1" dirty="0"/>
              <a:t>slipping or at-risk customers</a:t>
            </a:r>
            <a:r>
              <a:rPr lang="en-US" sz="1500" dirty="0"/>
              <a:t> and implement </a:t>
            </a:r>
            <a:r>
              <a:rPr lang="en-US" sz="1500" b="1" dirty="0"/>
              <a:t>re-engagement strategies</a:t>
            </a:r>
            <a:r>
              <a:rPr lang="en-US" sz="1500" dirty="0"/>
              <a:t> to reduce churn.</a:t>
            </a:r>
          </a:p>
          <a:p>
            <a:pPr lvl="2"/>
            <a:r>
              <a:rPr lang="en-US" sz="1500" b="1" dirty="0"/>
              <a:t>Sales Channel Optimization</a:t>
            </a:r>
          </a:p>
          <a:p>
            <a:pPr lvl="2"/>
            <a:r>
              <a:rPr lang="en-US" sz="1500" dirty="0"/>
              <a:t>Analyze </a:t>
            </a:r>
            <a:r>
              <a:rPr lang="en-US" sz="1500" b="1" dirty="0"/>
              <a:t>store vs web purchase patterns</a:t>
            </a:r>
            <a:r>
              <a:rPr lang="en-US" sz="1500" dirty="0"/>
              <a:t> to understand </a:t>
            </a:r>
            <a:r>
              <a:rPr lang="en-US" sz="1500" b="1" dirty="0"/>
              <a:t>customer channel preferences</a:t>
            </a:r>
            <a:r>
              <a:rPr lang="en-US" sz="1500" dirty="0"/>
              <a:t> and improve </a:t>
            </a:r>
            <a:r>
              <a:rPr lang="en-US" sz="1500" b="1" dirty="0"/>
              <a:t>online sales adoption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Strategic Decision Making:</a:t>
            </a:r>
          </a:p>
          <a:p>
            <a:pPr lvl="2"/>
            <a:r>
              <a:rPr lang="en-US" sz="1500" dirty="0"/>
              <a:t>Provide </a:t>
            </a:r>
            <a:r>
              <a:rPr lang="en-US" sz="1500" b="1" dirty="0"/>
              <a:t>actionable insights for leadership teams</a:t>
            </a:r>
            <a:r>
              <a:rPr lang="en-US" sz="1500" dirty="0"/>
              <a:t> to optimize </a:t>
            </a:r>
            <a:r>
              <a:rPr lang="en-US" sz="1500" b="1" dirty="0"/>
              <a:t>customer engagement, revenue growth, and marketing investments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Business Value:</a:t>
            </a:r>
          </a:p>
          <a:p>
            <a:pPr lvl="2"/>
            <a:r>
              <a:rPr lang="en-US" sz="1500" dirty="0"/>
              <a:t>This dashboard enables organizations to:</a:t>
            </a:r>
          </a:p>
          <a:p>
            <a:pPr lvl="3"/>
            <a:r>
              <a:rPr lang="en-US" sz="1500" b="1" dirty="0"/>
              <a:t>Identify high-spending customer segments</a:t>
            </a:r>
            <a:endParaRPr lang="en-US" sz="1500" dirty="0"/>
          </a:p>
          <a:p>
            <a:pPr lvl="3"/>
            <a:r>
              <a:rPr lang="en-US" sz="1500" b="1" dirty="0"/>
              <a:t>Improve targeted marketing strategies</a:t>
            </a:r>
            <a:endParaRPr lang="en-US" sz="1500" dirty="0"/>
          </a:p>
          <a:p>
            <a:pPr lvl="3"/>
            <a:r>
              <a:rPr lang="en-US" sz="1500" b="1" dirty="0"/>
              <a:t>Strengthen customer retention initiatives</a:t>
            </a:r>
            <a:endParaRPr lang="en-US" sz="1500" dirty="0"/>
          </a:p>
          <a:p>
            <a:pPr lvl="3"/>
            <a:r>
              <a:rPr lang="en-US" sz="1500" b="1" dirty="0"/>
              <a:t>Evaluate offline vs online sales performance</a:t>
            </a:r>
            <a:endParaRPr lang="en-US" sz="1500" dirty="0"/>
          </a:p>
          <a:p>
            <a:pPr lvl="3"/>
            <a:r>
              <a:rPr lang="en-US" sz="1500" b="1" dirty="0"/>
              <a:t>Support data-driven business decision making</a:t>
            </a:r>
            <a:endParaRPr lang="en-US" sz="1500" dirty="0"/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F7A38B-A088-23A3-C536-CE0C981426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362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79491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4EA-C6C0-AD7A-DFE4-7B107D7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2143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620C-3B01-BD8D-C488-C2363A93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760"/>
            <a:ext cx="12192000" cy="53492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27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DE7D-CAB5-CBBB-05B8-C656AA0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99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4786</TotalTime>
  <Words>1215</Words>
  <Application>Microsoft Office PowerPoint</Application>
  <PresentationFormat>Widescreen</PresentationFormat>
  <Paragraphs>158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Anvaya Essence – Customer Segmentation &amp; Purchase Behavior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📍Conclusion</vt:lpstr>
      <vt:lpstr>🖥️ Dashboard Overview (1) – Customer Segmentation</vt:lpstr>
      <vt:lpstr>🖥️ Dashboard Overview (2) – Purchase Behavior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48</cp:revision>
  <dcterms:created xsi:type="dcterms:W3CDTF">2025-10-10T07:10:37Z</dcterms:created>
  <dcterms:modified xsi:type="dcterms:W3CDTF">2026-04-05T11:53:28Z</dcterms:modified>
</cp:coreProperties>
</file>