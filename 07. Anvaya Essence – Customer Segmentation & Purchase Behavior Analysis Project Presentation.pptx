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75" r:id="rId4"/>
    <p:sldId id="276" r:id="rId5"/>
    <p:sldId id="277" r:id="rId6"/>
    <p:sldId id="283" r:id="rId7"/>
    <p:sldId id="279" r:id="rId8"/>
    <p:sldId id="265" r:id="rId9"/>
    <p:sldId id="262" r:id="rId10"/>
    <p:sldId id="273" r:id="rId11"/>
    <p:sldId id="264" r:id="rId12"/>
    <p:sldId id="282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43000"/>
            <a:ext cx="11996928" cy="147218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Anvaya Essence – Customer Segmentation &amp; Purchase Behavior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4C45-04F8-3A5A-39BB-FC803040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7ED85-A8F9-0E56-6440-DB019472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4E4DD-F928-14F8-0BCD-63AE048AB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marL="0" indent="0">
              <a:buNone/>
            </a:pPr>
            <a:r>
              <a:rPr lang="en-US" sz="1500" dirty="0"/>
              <a:t>Analyze </a:t>
            </a:r>
            <a:r>
              <a:rPr lang="en-US" sz="1500" b="1" dirty="0"/>
              <a:t>customer demographics, spending behavior, and purchase channels</a:t>
            </a:r>
            <a:r>
              <a:rPr lang="en-US" sz="1500" dirty="0"/>
              <a:t> to uncover actionable insights. Identify </a:t>
            </a:r>
            <a:r>
              <a:rPr lang="en-US" sz="1500" b="1" dirty="0"/>
              <a:t>high-value customer segments</a:t>
            </a:r>
            <a:r>
              <a:rPr lang="en-US" sz="1500" dirty="0"/>
              <a:t> based on </a:t>
            </a:r>
            <a:r>
              <a:rPr lang="en-US" sz="1500" b="1" dirty="0"/>
              <a:t>income, generation, education, and family structure</a:t>
            </a:r>
            <a:r>
              <a:rPr lang="en-US" sz="1500" dirty="0"/>
              <a:t>. Evaluate </a:t>
            </a:r>
            <a:r>
              <a:rPr lang="en-US" sz="1500" b="1" dirty="0"/>
              <a:t>purchase patterns across store and web channels</a:t>
            </a:r>
            <a:r>
              <a:rPr lang="en-US" sz="1500" dirty="0"/>
              <a:t> to understand customer buying preferences.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Customers</a:t>
            </a:r>
            <a:endParaRPr lang="en-US" sz="1500" dirty="0"/>
          </a:p>
          <a:p>
            <a:pPr lvl="1"/>
            <a:r>
              <a:rPr lang="en-US" sz="1500" b="1" dirty="0"/>
              <a:t>Total Revenue (Total Spend)</a:t>
            </a:r>
            <a:endParaRPr lang="en-US" sz="1500" dirty="0"/>
          </a:p>
          <a:p>
            <a:pPr lvl="1"/>
            <a:r>
              <a:rPr lang="en-US" sz="1500" b="1" dirty="0"/>
              <a:t>Purchase Volume</a:t>
            </a:r>
            <a:endParaRPr lang="en-US" sz="1500" dirty="0"/>
          </a:p>
          <a:p>
            <a:pPr lvl="1"/>
            <a:r>
              <a:rPr lang="en-US" sz="1500" b="1" dirty="0"/>
              <a:t>Average Customer Income</a:t>
            </a:r>
            <a:endParaRPr lang="en-US" sz="1500" dirty="0"/>
          </a:p>
          <a:p>
            <a:pPr lvl="1"/>
            <a:r>
              <a:rPr lang="en-US" sz="1500" b="1" dirty="0"/>
              <a:t>Average Customer Age</a:t>
            </a:r>
            <a:endParaRPr lang="en-US" sz="1500" dirty="0"/>
          </a:p>
          <a:p>
            <a:pPr lvl="1"/>
            <a:r>
              <a:rPr lang="en-US" sz="1500" b="1" dirty="0"/>
              <a:t>Store Sales % vs Web Sales %</a:t>
            </a:r>
            <a:endParaRPr lang="en-US" sz="1500" dirty="0"/>
          </a:p>
          <a:p>
            <a:pPr lvl="1"/>
            <a:r>
              <a:rPr lang="en-US" sz="1500" b="1" dirty="0"/>
              <a:t>Average Recency (Customer Activity Level)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b="1" dirty="0"/>
              <a:t>2 Interactive Power BI Dashboard Pages</a:t>
            </a:r>
            <a:endParaRPr lang="en-US" sz="1500" dirty="0"/>
          </a:p>
          <a:p>
            <a:pPr lvl="1"/>
            <a:r>
              <a:rPr lang="en-US" sz="1500" b="1" dirty="0"/>
              <a:t>Customer Segmentation Analysis</a:t>
            </a:r>
            <a:endParaRPr lang="en-US" sz="1500" dirty="0"/>
          </a:p>
          <a:p>
            <a:pPr lvl="1"/>
            <a:r>
              <a:rPr lang="en-US" sz="1500" b="1" dirty="0"/>
              <a:t>Purchase Behavior &amp; Channel Performance Insights</a:t>
            </a:r>
            <a:endParaRPr lang="en-US" sz="1500" dirty="0"/>
          </a:p>
          <a:p>
            <a:pPr lvl="1"/>
            <a:r>
              <a:rPr lang="en-US" sz="1500" b="1" dirty="0"/>
              <a:t>Business-ready data visualization for decision-making</a:t>
            </a:r>
            <a:endParaRPr lang="en-US" sz="1500" dirty="0"/>
          </a:p>
          <a:p>
            <a:pPr marL="457200" lvl="1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574306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57822-D195-9460-1077-0419847A3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B0074-702F-0080-C0E7-A6A882E78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12FE5-CE2F-8566-FA72-51328EEC9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500" dirty="0"/>
              <a:t>In today’s competitive retail environment, understanding customer behavior is essential for improving customer retention and maximizing revenue.</a:t>
            </a:r>
          </a:p>
          <a:p>
            <a:pPr marL="0" indent="0">
              <a:buNone/>
            </a:pPr>
            <a:r>
              <a:rPr lang="en-US" sz="1500" dirty="0"/>
              <a:t>Businesses require deeper insights into </a:t>
            </a:r>
            <a:r>
              <a:rPr lang="en-US" sz="1500" b="1" dirty="0"/>
              <a:t>who their customers are, how they purchase, and what factors influence their spending patterns</a:t>
            </a:r>
            <a:r>
              <a:rPr lang="en-US" sz="1500" dirty="0"/>
              <a:t>. By analyzing customer demographic and purchase data, organizations can better identify high-value segments and optimize marketing strategies.</a:t>
            </a:r>
          </a:p>
          <a:p>
            <a:pPr marL="0" indent="0">
              <a:buNone/>
            </a:pPr>
            <a:r>
              <a:rPr lang="en-US" sz="1500" dirty="0"/>
              <a:t>This project examines </a:t>
            </a:r>
            <a:r>
              <a:rPr lang="en-US" sz="1500" b="1" dirty="0"/>
              <a:t>customer demographics, spending behavior, and purchase channels</a:t>
            </a:r>
            <a:r>
              <a:rPr lang="en-US" sz="1500" dirty="0"/>
              <a:t> to uncover patterns that influence buying decisions and engagement levels.</a:t>
            </a:r>
          </a:p>
          <a:p>
            <a:pPr marL="0" indent="0">
              <a:buNone/>
            </a:pPr>
            <a:r>
              <a:rPr lang="en-US" sz="1500" dirty="0"/>
              <a:t>The insights generated from this analysis help businesses to:</a:t>
            </a:r>
          </a:p>
          <a:p>
            <a:pPr lvl="1"/>
            <a:r>
              <a:rPr lang="en-US" sz="1500" dirty="0"/>
              <a:t>Identify </a:t>
            </a:r>
            <a:r>
              <a:rPr lang="en-US" sz="1500" b="1" dirty="0"/>
              <a:t>high-value customer segments</a:t>
            </a:r>
            <a:endParaRPr lang="en-US" sz="1500" dirty="0"/>
          </a:p>
          <a:p>
            <a:pPr lvl="1"/>
            <a:r>
              <a:rPr lang="en-US" sz="1500" dirty="0"/>
              <a:t>Understand </a:t>
            </a:r>
            <a:r>
              <a:rPr lang="en-US" sz="1500" b="1" dirty="0"/>
              <a:t>purchase channel preferences (Store vs Web)</a:t>
            </a:r>
            <a:endParaRPr lang="en-US" sz="1500" dirty="0"/>
          </a:p>
          <a:p>
            <a:pPr lvl="1"/>
            <a:r>
              <a:rPr lang="en-US" sz="1500" dirty="0"/>
              <a:t>Evaluate </a:t>
            </a:r>
            <a:r>
              <a:rPr lang="en-US" sz="1500" b="1" dirty="0"/>
              <a:t>customer engagement and recency behavior</a:t>
            </a:r>
            <a:endParaRPr lang="en-US" sz="1500" dirty="0"/>
          </a:p>
          <a:p>
            <a:pPr lvl="1"/>
            <a:r>
              <a:rPr lang="en-US" sz="1500" dirty="0"/>
              <a:t>Support </a:t>
            </a:r>
            <a:r>
              <a:rPr lang="en-US" sz="1500" b="1" dirty="0"/>
              <a:t>targeted marketing and revenue optimization strategies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48583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D8884-E824-401C-A597-34F0978F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DDDE2-8242-D00D-987A-A9899C6FD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D4524-94B6-FDC3-1607-8D26B742E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Customer Marketing Dataset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</a:t>
            </a:r>
            <a:r>
              <a:rPr lang="en-US" sz="1500" b="1" dirty="0"/>
              <a:t>Structured transactional and demographic data</a:t>
            </a:r>
            <a:endParaRPr lang="en-US" sz="1500" dirty="0"/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</a:t>
            </a:r>
            <a:r>
              <a:rPr lang="en-US" sz="1500" b="1" dirty="0"/>
              <a:t>Multi-year customer purchase history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Customer ID (Primary Identifier),</a:t>
            </a:r>
            <a:r>
              <a:rPr lang="en-US" sz="1500" dirty="0"/>
              <a:t> </a:t>
            </a:r>
            <a:r>
              <a:rPr lang="en-US" sz="1500" b="1" dirty="0"/>
              <a:t>Demographic Attributes,</a:t>
            </a:r>
            <a:r>
              <a:rPr lang="en-US" sz="1500" dirty="0"/>
              <a:t> </a:t>
            </a:r>
            <a:r>
              <a:rPr lang="en-US" sz="1500" b="1" dirty="0"/>
              <a:t>Purchase Behavior Metrics</a:t>
            </a:r>
            <a:endParaRPr lang="en-US" sz="1500" dirty="0"/>
          </a:p>
          <a:p>
            <a:pPr lvl="1"/>
            <a:r>
              <a:rPr lang="en-US" sz="1500" b="1" dirty="0"/>
              <a:t>Total Rows: ~2,200 customer records</a:t>
            </a:r>
            <a:endParaRPr lang="en-US" sz="1500" dirty="0"/>
          </a:p>
          <a:p>
            <a:pPr lvl="1"/>
            <a:r>
              <a:rPr lang="en-US" sz="1500" b="1" dirty="0"/>
              <a:t>Categories:</a:t>
            </a:r>
          </a:p>
          <a:p>
            <a:pPr lvl="2"/>
            <a:r>
              <a:rPr lang="en-US" sz="1500" b="1" dirty="0"/>
              <a:t>Demographics: Age Group</a:t>
            </a:r>
            <a:r>
              <a:rPr lang="en-US" sz="1500" dirty="0"/>
              <a:t>, </a:t>
            </a:r>
            <a:r>
              <a:rPr lang="en-US" sz="1500" b="1" dirty="0"/>
              <a:t>Generation,</a:t>
            </a:r>
            <a:r>
              <a:rPr lang="en-US" sz="1500" dirty="0"/>
              <a:t> </a:t>
            </a:r>
            <a:r>
              <a:rPr lang="en-US" sz="1500" b="1" dirty="0"/>
              <a:t>Education</a:t>
            </a:r>
            <a:r>
              <a:rPr lang="en-US" sz="1500" dirty="0"/>
              <a:t>, </a:t>
            </a:r>
            <a:r>
              <a:rPr lang="en-US" sz="1500" b="1" dirty="0"/>
              <a:t>Marital Status</a:t>
            </a:r>
            <a:endParaRPr lang="en-US" sz="1500" dirty="0"/>
          </a:p>
          <a:p>
            <a:pPr lvl="2"/>
            <a:r>
              <a:rPr lang="en-US" sz="1500" b="1" dirty="0"/>
              <a:t>Financial: Income,</a:t>
            </a:r>
            <a:r>
              <a:rPr lang="en-US" sz="1500" dirty="0"/>
              <a:t> </a:t>
            </a:r>
            <a:r>
              <a:rPr lang="en-US" sz="1500" b="1" dirty="0"/>
              <a:t>Income Segment</a:t>
            </a:r>
            <a:endParaRPr lang="en-US" sz="1500" dirty="0"/>
          </a:p>
          <a:p>
            <a:pPr lvl="2"/>
            <a:r>
              <a:rPr lang="en-US" sz="1500" b="1" dirty="0"/>
              <a:t>Household: Total Children</a:t>
            </a:r>
            <a:endParaRPr lang="en-US" sz="1500" dirty="0"/>
          </a:p>
          <a:p>
            <a:pPr lvl="2"/>
            <a:r>
              <a:rPr lang="en-US" sz="1500" b="1" dirty="0"/>
              <a:t>Purchasing Behavior: Store Purchases</a:t>
            </a:r>
            <a:r>
              <a:rPr lang="en-US" sz="1500" dirty="0"/>
              <a:t>, </a:t>
            </a:r>
            <a:r>
              <a:rPr lang="en-US" sz="1500" b="1" dirty="0"/>
              <a:t>Web Purchases</a:t>
            </a:r>
            <a:r>
              <a:rPr lang="en-US" sz="1500" dirty="0"/>
              <a:t>, </a:t>
            </a:r>
            <a:r>
              <a:rPr lang="en-US" sz="1500" b="1" dirty="0"/>
              <a:t>Total Purchases</a:t>
            </a:r>
            <a:endParaRPr lang="en-US" sz="1500" dirty="0"/>
          </a:p>
          <a:p>
            <a:pPr lvl="2"/>
            <a:r>
              <a:rPr lang="en-US" sz="1500" b="1" dirty="0"/>
              <a:t>Spending Metrics: Product Category Spending</a:t>
            </a:r>
            <a:r>
              <a:rPr lang="en-US" sz="1500" dirty="0"/>
              <a:t>, </a:t>
            </a:r>
            <a:r>
              <a:rPr lang="en-US" sz="1500" b="1" dirty="0"/>
              <a:t>Total Spend (Total Revenue)</a:t>
            </a:r>
            <a:endParaRPr lang="en-US" sz="1500" dirty="0"/>
          </a:p>
          <a:p>
            <a:pPr lvl="1"/>
            <a:r>
              <a:rPr lang="en-US" sz="1500" b="1" dirty="0"/>
              <a:t>Calculated Metrics: (Created using DAX in Power BI) Total Revenue (Total Spend),</a:t>
            </a:r>
            <a:r>
              <a:rPr lang="en-US" sz="1500" dirty="0"/>
              <a:t> </a:t>
            </a:r>
            <a:r>
              <a:rPr lang="en-US" sz="1500" b="1" dirty="0"/>
              <a:t>Purchase Volume,</a:t>
            </a:r>
            <a:r>
              <a:rPr lang="en-US" sz="1500" dirty="0"/>
              <a:t> </a:t>
            </a:r>
            <a:r>
              <a:rPr lang="en-US" sz="1500" b="1" dirty="0"/>
              <a:t>Average Customer Spend,</a:t>
            </a:r>
            <a:r>
              <a:rPr lang="en-US" sz="1500" dirty="0"/>
              <a:t> </a:t>
            </a:r>
            <a:r>
              <a:rPr lang="en-US" sz="1500" b="1" dirty="0"/>
              <a:t>Store Sales %,</a:t>
            </a:r>
            <a:r>
              <a:rPr lang="en-US" sz="1500" dirty="0"/>
              <a:t> </a:t>
            </a:r>
            <a:r>
              <a:rPr lang="en-US" sz="1500" b="1" dirty="0"/>
              <a:t>Web Sales %,</a:t>
            </a:r>
            <a:r>
              <a:rPr lang="en-US" sz="1500" dirty="0"/>
              <a:t> 	</a:t>
            </a:r>
            <a:r>
              <a:rPr lang="en-US" sz="1500" b="1" dirty="0"/>
              <a:t>Generation Segmentation,</a:t>
            </a:r>
            <a:r>
              <a:rPr lang="en-US" sz="1500" dirty="0"/>
              <a:t> </a:t>
            </a:r>
            <a:r>
              <a:rPr lang="en-US" sz="1500" b="1" dirty="0"/>
              <a:t>Income Segmentation,</a:t>
            </a:r>
            <a:r>
              <a:rPr lang="en-US" sz="1500" dirty="0"/>
              <a:t> </a:t>
            </a:r>
            <a:r>
              <a:rPr lang="en-US" sz="1500" b="1" dirty="0"/>
              <a:t>Age Group Segmentation,</a:t>
            </a:r>
            <a:r>
              <a:rPr lang="en-US" sz="1500" dirty="0"/>
              <a:t> </a:t>
            </a:r>
            <a:r>
              <a:rPr lang="en-US" sz="1500" b="1" dirty="0"/>
              <a:t>Customer Recency Status (Active / Slipping / At Risk)</a:t>
            </a:r>
            <a:endParaRPr lang="en-US" sz="1500" dirty="0"/>
          </a:p>
          <a:p>
            <a:pPr marL="0" indent="0">
              <a:buNone/>
            </a:pP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064527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36D42-31F0-2748-E184-6CE2F771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D7C48-9D59-C0A1-FAD3-0A81AFDE9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083F0-C491-8465-A30F-9715DD648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Data cleaning, transformations, and preparation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1439956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05D2B-0080-22AD-95D4-6948D5237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CED7-B300-92D8-130A-3AA3B499E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043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73132-EBB2-95FA-9C9C-071F0CD6D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70432"/>
            <a:ext cx="12192000" cy="56875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  <a:endParaRPr lang="en-US" sz="1400" dirty="0"/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Removed </a:t>
            </a:r>
            <a:r>
              <a:rPr lang="en-US" sz="1400" b="1" dirty="0"/>
              <a:t>inconsistent or missing values</a:t>
            </a:r>
            <a:endParaRPr lang="en-US" sz="1400" dirty="0"/>
          </a:p>
          <a:p>
            <a:pPr lvl="2"/>
            <a:r>
              <a:rPr lang="en-US" sz="1400" dirty="0"/>
              <a:t>Standardized </a:t>
            </a:r>
            <a:r>
              <a:rPr lang="en-US" sz="1400" b="1" dirty="0"/>
              <a:t>categorical, numeric, and date fields</a:t>
            </a:r>
            <a:endParaRPr lang="en-US" sz="1400" dirty="0"/>
          </a:p>
          <a:p>
            <a:pPr lvl="2"/>
            <a:r>
              <a:rPr lang="en-US" sz="1400" dirty="0"/>
              <a:t>Created derived attributes: </a:t>
            </a:r>
            <a:r>
              <a:rPr lang="en-US" sz="1400" b="1" dirty="0"/>
              <a:t>Age, Age Groups, Generation</a:t>
            </a:r>
            <a:endParaRPr lang="en-US" sz="1400" dirty="0"/>
          </a:p>
          <a:p>
            <a:pPr lvl="1"/>
            <a:r>
              <a:rPr lang="en-US" sz="1400" b="1" dirty="0"/>
              <a:t>Data Modeling:</a:t>
            </a:r>
          </a:p>
          <a:p>
            <a:pPr lvl="2"/>
            <a:r>
              <a:rPr lang="en-US" sz="1400" dirty="0"/>
              <a:t>Structured dataset using </a:t>
            </a:r>
            <a:r>
              <a:rPr lang="en-US" sz="1400" b="1" dirty="0"/>
              <a:t>Customer ID as primary index</a:t>
            </a:r>
            <a:endParaRPr lang="en-US" sz="1400" dirty="0"/>
          </a:p>
          <a:p>
            <a:pPr lvl="2"/>
            <a:r>
              <a:rPr lang="en-US" sz="1400" dirty="0"/>
              <a:t>Created </a:t>
            </a:r>
            <a:r>
              <a:rPr lang="en-US" sz="1400" b="1" dirty="0"/>
              <a:t>calculated columns and KPI measures using DAX</a:t>
            </a:r>
            <a:endParaRPr lang="en-US" sz="1400" dirty="0"/>
          </a:p>
          <a:p>
            <a:pPr lvl="2"/>
            <a:r>
              <a:rPr lang="en-US" sz="1400" dirty="0"/>
              <a:t>Optimized model for </a:t>
            </a:r>
            <a:r>
              <a:rPr lang="en-US" sz="1400" b="1" dirty="0"/>
              <a:t>efficient dashboard performance</a:t>
            </a:r>
            <a:endParaRPr lang="en-US" sz="1400" dirty="0"/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Developed segmentation variables:</a:t>
            </a:r>
          </a:p>
          <a:p>
            <a:pPr lvl="2"/>
            <a:r>
              <a:rPr lang="en-US" sz="1400" b="1" dirty="0"/>
              <a:t>Generation Segmentation</a:t>
            </a:r>
            <a:r>
              <a:rPr lang="en-US" sz="1400" dirty="0"/>
              <a:t> (Gen Z, Millennials, Gen X, Boomers)</a:t>
            </a:r>
          </a:p>
          <a:p>
            <a:pPr lvl="2"/>
            <a:r>
              <a:rPr lang="en-US" sz="1400" b="1" dirty="0"/>
              <a:t>Income Segmentation</a:t>
            </a:r>
            <a:r>
              <a:rPr lang="en-US" sz="1400" dirty="0"/>
              <a:t> (Low, Medium, High)</a:t>
            </a:r>
          </a:p>
          <a:p>
            <a:pPr lvl="2"/>
            <a:r>
              <a:rPr lang="en-US" sz="1400" b="1" dirty="0"/>
              <a:t>Age Groups &amp; Customer Recency Status</a:t>
            </a:r>
            <a:endParaRPr lang="en-US" sz="1400" dirty="0"/>
          </a:p>
          <a:p>
            <a:pPr lvl="2"/>
            <a:r>
              <a:rPr lang="en-US" sz="1400" b="1" dirty="0"/>
              <a:t>Channel Sales % and Total Purchase Volume</a:t>
            </a:r>
            <a:endParaRPr lang="en-US" sz="1400" dirty="0"/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Built </a:t>
            </a:r>
            <a:r>
              <a:rPr lang="en-US" sz="1400" b="1" dirty="0"/>
              <a:t>two interactive Power BI dashboards</a:t>
            </a:r>
            <a:endParaRPr lang="en-US" sz="1400" dirty="0"/>
          </a:p>
          <a:p>
            <a:pPr lvl="2"/>
            <a:r>
              <a:rPr lang="en-US" sz="1400" dirty="0"/>
              <a:t>Used </a:t>
            </a:r>
            <a:r>
              <a:rPr lang="en-US" sz="1400" b="1" dirty="0"/>
              <a:t>KPI cards, bar charts, stacked bars, and combo charts</a:t>
            </a:r>
            <a:endParaRPr lang="en-US" sz="1400" dirty="0"/>
          </a:p>
          <a:p>
            <a:pPr lvl="2"/>
            <a:r>
              <a:rPr lang="en-US" sz="1400" dirty="0"/>
              <a:t>Applied </a:t>
            </a:r>
            <a:r>
              <a:rPr lang="en-US" sz="1400" b="1" dirty="0"/>
              <a:t>consistent visual theme and segmentation-based layout</a:t>
            </a:r>
            <a:endParaRPr lang="en-US" sz="1400" dirty="0"/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Verified </a:t>
            </a:r>
            <a:r>
              <a:rPr lang="en-US" sz="1400" b="1" dirty="0"/>
              <a:t>KPI calculations and aggregations</a:t>
            </a:r>
            <a:endParaRPr lang="en-US" sz="1400" dirty="0"/>
          </a:p>
          <a:p>
            <a:pPr lvl="2"/>
            <a:r>
              <a:rPr lang="en-US" sz="1400" dirty="0"/>
              <a:t>Ensured </a:t>
            </a:r>
            <a:r>
              <a:rPr lang="en-US" sz="1400" b="1" dirty="0"/>
              <a:t>consistent formatting and dashboard clarity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3518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9CA60-D7A5-1EFF-0B9C-61476E48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48984-9A93-82DA-A1FA-02D0B246B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D40AC-1D22-AF1C-920D-683E0CA1C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To better understand customer behavior and revenue drivers, the analysis focuses on identifying patterns across demographic segments, spending habits, and purchase channels.</a:t>
            </a:r>
            <a:br>
              <a:rPr lang="en-US" sz="1500" dirty="0"/>
            </a:br>
            <a:r>
              <a:rPr lang="en-US" sz="1500" dirty="0"/>
              <a:t>The following key questions guide the exploration of the dataset and help uncover actionable business insights.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customer segments generate the highest revenue?</a:t>
            </a:r>
          </a:p>
          <a:p>
            <a:pPr lvl="1"/>
            <a:r>
              <a:rPr lang="en-US" sz="1500" dirty="0"/>
              <a:t>How does spending vary across different </a:t>
            </a:r>
            <a:r>
              <a:rPr lang="en-US" sz="1500" b="1" dirty="0"/>
              <a:t>age groups and generations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income segments</a:t>
            </a:r>
            <a:r>
              <a:rPr lang="en-US" sz="1500" dirty="0"/>
              <a:t> contribute the most to overall revenue?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education level influence purchasing behavior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What are the preferred </a:t>
            </a:r>
            <a:r>
              <a:rPr lang="en-US" sz="1500" b="1" dirty="0"/>
              <a:t>purchase channels (Web vs Store)</a:t>
            </a:r>
            <a:r>
              <a:rPr lang="en-US" sz="1500" dirty="0"/>
              <a:t> among customers?</a:t>
            </a:r>
          </a:p>
          <a:p>
            <a:pPr lvl="1"/>
            <a:r>
              <a:rPr lang="en-US" sz="1500" dirty="0"/>
              <a:t>Which customers are </a:t>
            </a:r>
            <a:r>
              <a:rPr lang="en-US" sz="1500" b="1" dirty="0"/>
              <a:t>active, slipping, or at risk of churn</a:t>
            </a:r>
            <a:r>
              <a:rPr lang="en-US" sz="1500" dirty="0"/>
              <a:t> based on recency?</a:t>
            </a:r>
          </a:p>
          <a:p>
            <a:pPr lvl="1"/>
            <a:r>
              <a:rPr lang="en-US" sz="1500" dirty="0"/>
              <a:t>How do </a:t>
            </a:r>
            <a:r>
              <a:rPr lang="en-US" sz="1500" b="1" dirty="0"/>
              <a:t>purchase frequency and total revenue correlate</a:t>
            </a:r>
            <a:r>
              <a:rPr lang="en-US" sz="1500" dirty="0"/>
              <a:t> across customer segments?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245590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D5F8-D0E4-975A-6783-C12BA7F4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F2298-2736-F19C-21FB-BDE85EA3C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320"/>
            <a:ext cx="12192000" cy="54406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b="1" dirty="0"/>
              <a:t>Middle-aged customers (Age 49–58)</a:t>
            </a:r>
            <a:r>
              <a:rPr lang="en-US" sz="1500" dirty="0"/>
              <a:t> and the </a:t>
            </a:r>
            <a:r>
              <a:rPr lang="en-US" sz="1500" b="1" dirty="0"/>
              <a:t>Gen X generation</a:t>
            </a:r>
            <a:r>
              <a:rPr lang="en-US" sz="1500" dirty="0"/>
              <a:t> contribute the </a:t>
            </a:r>
            <a:r>
              <a:rPr lang="en-US" sz="1500" b="1" dirty="0"/>
              <a:t>highest share of total revenue and purchase volume</a:t>
            </a:r>
            <a:r>
              <a:rPr lang="en-US" sz="1500" dirty="0"/>
              <a:t>, making them the most valuable customer segment.</a:t>
            </a:r>
          </a:p>
          <a:p>
            <a:pPr lvl="1"/>
            <a:r>
              <a:rPr lang="en-US" sz="1500" b="1" dirty="0"/>
              <a:t>High-income customers</a:t>
            </a:r>
            <a:r>
              <a:rPr lang="en-US" sz="1500" dirty="0"/>
              <a:t> generate </a:t>
            </a:r>
            <a:r>
              <a:rPr lang="en-US" sz="1500" b="1" dirty="0"/>
              <a:t>significantly higher spending</a:t>
            </a:r>
            <a:r>
              <a:rPr lang="en-US" sz="1500" dirty="0"/>
              <a:t>, indicating a strong link between </a:t>
            </a:r>
            <a:r>
              <a:rPr lang="en-US" sz="1500" b="1" dirty="0"/>
              <a:t>income level and purchasing power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Customers with </a:t>
            </a:r>
            <a:r>
              <a:rPr lang="en-US" sz="1500" b="1" dirty="0"/>
              <a:t>no children at home tend to spend more on average</a:t>
            </a:r>
            <a:r>
              <a:rPr lang="en-US" sz="1500" dirty="0"/>
              <a:t>, suggesting higher disposable income.</a:t>
            </a:r>
          </a:p>
          <a:p>
            <a:pPr lvl="1"/>
            <a:r>
              <a:rPr lang="en-US" sz="1500" b="1" dirty="0"/>
              <a:t>Graduates and postgraduate customers</a:t>
            </a:r>
            <a:r>
              <a:rPr lang="en-US" sz="1500" dirty="0"/>
              <a:t> represent a </a:t>
            </a:r>
            <a:r>
              <a:rPr lang="en-US" sz="1500" b="1" dirty="0"/>
              <a:t>large portion of the customer base and spending activity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Store purchases dominate overall transactions</a:t>
            </a:r>
            <a:r>
              <a:rPr lang="en-US" sz="1500" dirty="0"/>
              <a:t>, showing a </a:t>
            </a:r>
            <a:r>
              <a:rPr lang="en-US" sz="1500" b="1" dirty="0"/>
              <a:t>strong preference for offline shopping</a:t>
            </a:r>
            <a:r>
              <a:rPr lang="en-US" sz="1500" dirty="0"/>
              <a:t>, while </a:t>
            </a:r>
            <a:r>
              <a:rPr lang="en-US" sz="1500" b="1" dirty="0"/>
              <a:t>web purchases represent a smaller but steadily growing channel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Customer recency analysis shows most customers fall into </a:t>
            </a:r>
            <a:r>
              <a:rPr lang="en-US" sz="1500" b="1" dirty="0"/>
              <a:t>Active or Slipping segments</a:t>
            </a:r>
            <a:r>
              <a:rPr lang="en-US" sz="1500" dirty="0"/>
              <a:t>, highlighting </a:t>
            </a:r>
            <a:r>
              <a:rPr lang="en-US" sz="1500" b="1" dirty="0"/>
              <a:t>opportunities for targeted retention strategies</a:t>
            </a:r>
            <a:r>
              <a:rPr lang="en-US" sz="1500" dirty="0"/>
              <a:t>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b="1" dirty="0"/>
              <a:t>Total Customers:</a:t>
            </a:r>
            <a:r>
              <a:rPr lang="en-US" sz="1500" dirty="0"/>
              <a:t> ~2,200</a:t>
            </a:r>
          </a:p>
          <a:p>
            <a:pPr lvl="1"/>
            <a:r>
              <a:rPr lang="en-US" sz="1500" b="1" dirty="0"/>
              <a:t>Highest Spending Age Group:</a:t>
            </a:r>
            <a:r>
              <a:rPr lang="en-US" sz="1500" dirty="0"/>
              <a:t> 49–58</a:t>
            </a:r>
          </a:p>
          <a:p>
            <a:pPr lvl="1"/>
            <a:r>
              <a:rPr lang="en-US" sz="1500" b="1" dirty="0"/>
              <a:t>Dominant Generation:</a:t>
            </a:r>
            <a:r>
              <a:rPr lang="en-US" sz="1500" dirty="0"/>
              <a:t> Gen X / Older Millennials</a:t>
            </a:r>
          </a:p>
          <a:p>
            <a:pPr lvl="1"/>
            <a:r>
              <a:rPr lang="en-US" sz="1500" b="1" dirty="0"/>
              <a:t>Store Sales Share:</a:t>
            </a:r>
            <a:r>
              <a:rPr lang="en-US" sz="1500" dirty="0"/>
              <a:t> ~60% of total purchases</a:t>
            </a:r>
          </a:p>
          <a:p>
            <a:pPr lvl="1"/>
            <a:r>
              <a:rPr lang="en-US" sz="1500" b="1" dirty="0"/>
              <a:t>Web Sales Share:</a:t>
            </a:r>
            <a:r>
              <a:rPr lang="en-US" sz="1500" dirty="0"/>
              <a:t> ~40% of total purchases</a:t>
            </a:r>
          </a:p>
          <a:p>
            <a:pPr lvl="1"/>
            <a:r>
              <a:rPr lang="en-US" sz="1500" b="1" dirty="0"/>
              <a:t>Primary Revenue Segment:</a:t>
            </a:r>
            <a:r>
              <a:rPr lang="en-US" sz="1500" dirty="0"/>
              <a:t> Medium-to-High income customers</a:t>
            </a:r>
          </a:p>
          <a:p>
            <a:pPr lvl="1"/>
            <a:r>
              <a:rPr lang="en-US" sz="1500" b="1" dirty="0"/>
              <a:t>Average Customer Spend:</a:t>
            </a:r>
            <a:r>
              <a:rPr lang="en-US" sz="1500" dirty="0"/>
              <a:t> Indicates </a:t>
            </a:r>
            <a:r>
              <a:rPr lang="en-US" sz="1500" b="1" dirty="0"/>
              <a:t>moderate to high purchasing capacity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89407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Customer purchasing behavior is strongly influenced by </a:t>
            </a:r>
            <a:r>
              <a:rPr lang="en-US" sz="1500" b="1" dirty="0"/>
              <a:t>demographic factors such as age, income, education, and household structure</a:t>
            </a:r>
            <a:r>
              <a:rPr lang="en-US" sz="1500" dirty="0"/>
              <a:t>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Middle-aged and higher-income customers</a:t>
            </a:r>
            <a:r>
              <a:rPr lang="en-US" sz="1500" dirty="0"/>
              <a:t> contribute the most to overall revenue, making them key high-value segments.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Store purchases dominate over web purchases</a:t>
            </a:r>
            <a:r>
              <a:rPr lang="en-US" sz="1500" dirty="0"/>
              <a:t>, indicating strong offline engagement while highlighting potential growth opportunities for online channels.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Customer recency analysis</a:t>
            </a:r>
            <a:r>
              <a:rPr lang="en-US" sz="1500" dirty="0"/>
              <a:t> reveals opportunities to retain slipping customers and re-engage inactive segments.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These insights enable businesses to </a:t>
            </a:r>
            <a:r>
              <a:rPr lang="en-US" sz="1500" b="1" dirty="0"/>
              <a:t>design targeted marketing strategies, improve customer retention, and optimize revenue performance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 fontScale="90000"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(1) – Customer Segmentation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00B8515-6516-A896-CCFA-EAF1C678FD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(2) – Purchase Behavior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2543B5-2040-C67B-2A22-63DF482BC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D9A91-9A5A-6481-6956-8B348D21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36830-B779-C302-90CE-4234A21B2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19656"/>
            <a:ext cx="12192000" cy="50383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The insights generated from this dashboard support </a:t>
            </a:r>
            <a:r>
              <a:rPr lang="en-US" sz="1500" b="1" dirty="0"/>
              <a:t>data-driven marketing, sales, and customer strategy decisions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Marketing Strategy:</a:t>
            </a:r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high-value customer segments</a:t>
            </a:r>
            <a:r>
              <a:rPr lang="en-US" sz="1500" dirty="0"/>
              <a:t> based on income, age group, and spending behavior to design </a:t>
            </a:r>
            <a:r>
              <a:rPr lang="en-US" sz="1500" b="1" dirty="0"/>
              <a:t>targeted and personalized marketing campaigns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Customer Retention:</a:t>
            </a:r>
          </a:p>
          <a:p>
            <a:pPr lvl="2"/>
            <a:r>
              <a:rPr lang="en-US" sz="1500" dirty="0"/>
              <a:t>Use </a:t>
            </a:r>
            <a:r>
              <a:rPr lang="en-US" sz="1500" b="1" dirty="0"/>
              <a:t>recency analysis</a:t>
            </a:r>
            <a:r>
              <a:rPr lang="en-US" sz="1500" dirty="0"/>
              <a:t> to detect </a:t>
            </a:r>
            <a:r>
              <a:rPr lang="en-US" sz="1500" b="1" dirty="0"/>
              <a:t>slipping or at-risk customers</a:t>
            </a:r>
            <a:r>
              <a:rPr lang="en-US" sz="1500" dirty="0"/>
              <a:t> and implement </a:t>
            </a:r>
            <a:r>
              <a:rPr lang="en-US" sz="1500" b="1" dirty="0"/>
              <a:t>re-engagement strategies</a:t>
            </a:r>
            <a:r>
              <a:rPr lang="en-US" sz="1500" dirty="0"/>
              <a:t> to reduce churn.</a:t>
            </a:r>
          </a:p>
          <a:p>
            <a:pPr lvl="2"/>
            <a:r>
              <a:rPr lang="en-US" sz="1500" b="1" dirty="0"/>
              <a:t>Sales Channel Optimization</a:t>
            </a:r>
          </a:p>
          <a:p>
            <a:pPr lvl="2"/>
            <a:r>
              <a:rPr lang="en-US" sz="1500" dirty="0"/>
              <a:t>Analyze </a:t>
            </a:r>
            <a:r>
              <a:rPr lang="en-US" sz="1500" b="1" dirty="0"/>
              <a:t>store vs web purchase patterns</a:t>
            </a:r>
            <a:r>
              <a:rPr lang="en-US" sz="1500" dirty="0"/>
              <a:t> to understand </a:t>
            </a:r>
            <a:r>
              <a:rPr lang="en-US" sz="1500" b="1" dirty="0"/>
              <a:t>customer channel preferences</a:t>
            </a:r>
            <a:r>
              <a:rPr lang="en-US" sz="1500" dirty="0"/>
              <a:t> and improve </a:t>
            </a:r>
            <a:r>
              <a:rPr lang="en-US" sz="1500" b="1" dirty="0"/>
              <a:t>online sales adoption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Strategic Decision Making:</a:t>
            </a:r>
          </a:p>
          <a:p>
            <a:pPr lvl="2"/>
            <a:r>
              <a:rPr lang="en-US" sz="1500" dirty="0"/>
              <a:t>Provide </a:t>
            </a:r>
            <a:r>
              <a:rPr lang="en-US" sz="1500" b="1" dirty="0"/>
              <a:t>actionable insights for leadership teams</a:t>
            </a:r>
            <a:r>
              <a:rPr lang="en-US" sz="1500" dirty="0"/>
              <a:t> to optimize </a:t>
            </a:r>
            <a:r>
              <a:rPr lang="en-US" sz="1500" b="1" dirty="0"/>
              <a:t>customer engagement, revenue growth, and marketing investments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Business Value:</a:t>
            </a:r>
          </a:p>
          <a:p>
            <a:pPr lvl="2"/>
            <a:r>
              <a:rPr lang="en-US" sz="1500" dirty="0"/>
              <a:t>This dashboard enables organizations to:</a:t>
            </a:r>
          </a:p>
          <a:p>
            <a:pPr lvl="3"/>
            <a:r>
              <a:rPr lang="en-US" sz="1500" b="1" dirty="0"/>
              <a:t>Identify high-spending customer segments</a:t>
            </a:r>
            <a:endParaRPr lang="en-US" sz="1500" dirty="0"/>
          </a:p>
          <a:p>
            <a:pPr lvl="3"/>
            <a:r>
              <a:rPr lang="en-US" sz="1500" b="1" dirty="0"/>
              <a:t>Improve targeted marketing strategies</a:t>
            </a:r>
            <a:endParaRPr lang="en-US" sz="1500" dirty="0"/>
          </a:p>
          <a:p>
            <a:pPr lvl="3"/>
            <a:r>
              <a:rPr lang="en-US" sz="1500" b="1" dirty="0"/>
              <a:t>Strengthen customer retention initiatives</a:t>
            </a:r>
            <a:endParaRPr lang="en-US" sz="1500" dirty="0"/>
          </a:p>
          <a:p>
            <a:pPr lvl="3"/>
            <a:r>
              <a:rPr lang="en-US" sz="1500" b="1" dirty="0"/>
              <a:t>Evaluate offline vs online sales performance</a:t>
            </a:r>
            <a:endParaRPr lang="en-US" sz="1500" dirty="0"/>
          </a:p>
          <a:p>
            <a:pPr lvl="3"/>
            <a:r>
              <a:rPr lang="en-US" sz="1500" b="1" dirty="0"/>
              <a:t>Support data-driven business decision making</a:t>
            </a:r>
            <a:endParaRPr lang="en-US" sz="1500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2F7A38B-A088-23A3-C536-CE0C981426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79491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4728</TotalTime>
  <Words>1213</Words>
  <Application>Microsoft Office PowerPoint</Application>
  <PresentationFormat>Widescreen</PresentationFormat>
  <Paragraphs>146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Anvaya Essence – Customer Segmentation &amp; Purchase Behavior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Customer Segmentation</vt:lpstr>
      <vt:lpstr>🖥️ Dashboard Overview (2) – Purchase Behavior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43</cp:revision>
  <dcterms:created xsi:type="dcterms:W3CDTF">2025-10-10T07:10:37Z</dcterms:created>
  <dcterms:modified xsi:type="dcterms:W3CDTF">2026-03-06T02:25:55Z</dcterms:modified>
</cp:coreProperties>
</file>